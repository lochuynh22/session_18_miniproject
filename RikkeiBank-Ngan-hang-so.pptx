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layfair Display SemiBold"/>
      <p:regular r:id="rId201314"/>
    </p:embeddedFont>
    <p:embeddedFont>
      <p:font typeface="Public Sans"/>
      <p:regular r:id="rId201315"/>
    </p:embeddedFont>
    <p:embeddedFont>
      <p:font typeface="Public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RikkeiBank — Ngân hàng số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Hành trình kiến trúc từ Monolith sang Microservices: hiệu năng, bảo mật và khả năng chịu lỗi.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131171"/>
            <a:ext cx="1223138" cy="287139"/>
          </a:xfrm>
          <a:prstGeom prst="roundRect">
            <a:avLst>
              <a:gd name="adj" fmla="val 22118"/>
            </a:avLst>
          </a:prstGeom>
          <a:solidFill>
            <a:srgbClr val="EEDDDD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187825"/>
            <a:ext cx="16059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DỰ ÁN NHÓM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979067" y="4131171"/>
            <a:ext cx="248586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E1C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92471" y="4187825"/>
            <a:ext cx="28686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1C2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SPRING CLOUD · KAFKA · SAGA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780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Tại sao từ bỏ Monolith?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052141"/>
            <a:ext cx="3053877" cy="2021780"/>
          </a:xfrm>
          <a:prstGeom prst="roundRect">
            <a:avLst>
              <a:gd name="adj" fmla="val 3927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24130" dir="2700000">
              <a:srgbClr val="c7a8a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28717" y="2247503"/>
            <a:ext cx="2663163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 Hiệu năng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668885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Tăng tải đồng thời làm toàn bộ hệ thống chậm lại — không thể mở rộng từng module độc lập.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052141"/>
            <a:ext cx="3053976" cy="2021780"/>
          </a:xfrm>
          <a:prstGeom prst="roundRect">
            <a:avLst>
              <a:gd name="adj" fmla="val 3927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24130" dir="2700000">
              <a:srgbClr val="b2aad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71601" y="2247503"/>
            <a:ext cx="2663262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🗄️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 Dữ liệu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66888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Database chung gây xung đột khóa, khó audit và không thể tách biệt theo domain nghiệp vụ.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262934"/>
            <a:ext cx="6296860" cy="1416943"/>
          </a:xfrm>
          <a:prstGeom prst="roundRect">
            <a:avLst>
              <a:gd name="adj" fmla="val 5603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24130" dir="2700000">
              <a:srgbClr val="9ac0ca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28717" y="4458295"/>
            <a:ext cx="590614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 Triển khai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8796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Mỗi bản vá nhỏ đòi hỏi deploy toàn bộ hệ thống — rủi ro cao, thời gian chết dài.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Kiến trúc Tổng thể &amp; Công nghệ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20367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Stack công nghệ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406180"/>
            <a:ext cx="5315512" cy="660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Spring Cloud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Service discovery, config, gateway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Kafka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Event-driven messaging, async notifications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Redis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Cache, session store, blacklist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Saga Pattern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Distributed transaction coordination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Resilience4j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Circuit breaker, retry, rate limiter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50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Bảo mật: RBAC &amp; Force Logout Tức thì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788220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Phân quyền RBAC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272506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Mỗi request được xác thực qua JWT và kiểm tra quyền theo vai trò: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Admin · Teller · Customer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Endpoint nhạy cảm bị chặn ở cấp Gateway.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32251" y="3671193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Force Logout qua Redis Blacklist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32251" y="4450755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Khi Admin thu hồi quyền, JWT bị đưa vào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Redis Blacklist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với TTL. Gateway từ chối mọi request dùng token này — logout tức thì không cần đợi token hết hạn.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126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Giao dịch Phân tán — Saga Pattern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081" y="1227832"/>
            <a:ext cx="8515534" cy="39318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209314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Gửi thông báo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209314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Ghi giao dịch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209314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Ghi có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209314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Ghé nợ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392936"/>
            <a:ext cx="5247052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 Happy Path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1475" y="5770265"/>
            <a:ext cx="585663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Tất cả bước thành công → giao dịch hoàn tất, notification gửi qua Kafka.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89518" y="5392936"/>
            <a:ext cx="5247052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 Compensating Rollback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89518" y="5770265"/>
            <a:ext cx="524705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Bất kỳ bước nào thất bại → Saga kích hoạt rollback ngược lại, đảm bảo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số dư không bao giờ lệch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262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Bất đồng bộ với Kafka &amp; Kháng lỗi với Circuit Breaker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4194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5066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Kafka Event-Driven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59349"/>
            <a:ext cx="3465426" cy="121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Transaction Service publish event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transaction.completed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 Notification Service consume độc lập — zero coupling, không blocking luồng chính.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04194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75066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Circuit Breaker (Resilience4j)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5934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Khi service đích phản hồi chậm hoặc lỗi, circuit mở → trả về fallback ngay, tránh cascade failure lan toàn hệ thống.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304194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75066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Retry &amp; Rate Limiter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15934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Tự động retry failed call với exponential backoff. Rate limiter bảo vệ service khỏi traffic spike bất ngờ.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975221"/>
            <a:ext cx="1033238" cy="287139"/>
          </a:xfrm>
          <a:prstGeom prst="roundRect">
            <a:avLst>
              <a:gd name="adj" fmla="val 22118"/>
            </a:avLst>
          </a:prstGeom>
          <a:solidFill>
            <a:srgbClr val="EEDDDD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031875"/>
            <a:ext cx="14160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33796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Demo 1 — Gateway &amp; Eureka Dashboard</a:t>
            </a:r>
            <a:endParaRPr lang="en-US" sz="3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02731"/>
            <a:ext cx="6314580" cy="14664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7479" y="3017143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API Gateway định tuyến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977479" y="3425825"/>
            <a:ext cx="5766449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Request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/api/accounts/*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→ Account Service,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/api/transactions/*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→ Transaction Service. Single entry point, centralized auth.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40436"/>
            <a:ext cx="6314580" cy="14600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654848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Eureka Dashboard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5063530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Hiển thị trạng thái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UP/DOWN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của tất cả service. Demo tắt một service → Eureka cập nhật real-time.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11648"/>
            <a:ext cx="1033238" cy="287139"/>
          </a:xfrm>
          <a:prstGeom prst="roundRect">
            <a:avLst>
              <a:gd name="adj" fmla="val 22118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968302"/>
            <a:ext cx="14160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2743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Demo 2 — Chuyển khoản &amp; Saga Rollback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37520"/>
            <a:ext cx="5203794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 Chuyển khoản thành công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34507"/>
            <a:ext cx="5203794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/api/transactions/transfer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Số dư nguồn trừ, đích cộng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Kafka notification gửi thành công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3148509"/>
            <a:ext cx="5476043" cy="1797844"/>
          </a:xfrm>
          <a:prstGeom prst="roundRect">
            <a:avLst>
              <a:gd name="adj" fmla="val 7570"/>
            </a:avLst>
          </a:prstGeom>
          <a:solidFill>
            <a:srgbClr val="E1C2C2"/>
          </a:solidFill>
          <a:ln/>
        </p:spPr>
      </p:sp>
      <p:sp>
        <p:nvSpPr>
          <p:cNvPr id="8" name="Text 6"/>
          <p:cNvSpPr/>
          <p:nvPr/>
        </p:nvSpPr>
        <p:spPr>
          <a:xfrm>
            <a:off x="6385658" y="3337520"/>
            <a:ext cx="5098029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🔥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 Demo lỗi &amp; Rollback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3834507"/>
            <a:ext cx="509802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Simulate lỗi tại bước Credit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Saga tự động rollback Debit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Số dư không đổi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kiểm chứng qua API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6957"/>
            <a:ext cx="968648" cy="269180"/>
          </a:xfrm>
          <a:prstGeom prst="roundRect">
            <a:avLst>
              <a:gd name="adj" fmla="val 22119"/>
            </a:avLst>
          </a:prstGeom>
          <a:solidFill>
            <a:srgbClr val="EEDDDD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630039"/>
            <a:ext cx="1365712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1251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Demo 3 — Admin Force Logout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39342"/>
            <a:ext cx="6913390" cy="39176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3400" y="1881485"/>
            <a:ext cx="352307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Kịch bản demo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13400" y="2324497"/>
            <a:ext cx="3523070" cy="2371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 gọi API </a:t>
            </a:r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/admin/revoke-access</a:t>
            </a:r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với userId mục tiêu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JWT của user được thêm vào </a:t>
            </a:r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3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Redis Blacklist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gửi request tiếp theo → Gateway trả về </a:t>
            </a:r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6F655D"/>
                </a:solidFill>
                <a:highlight>
                  <a:srgbClr val="F2EDE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401 Unauthorized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Phiên bị thu hồi </a:t>
            </a:r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3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tức thì</a:t>
            </a:r>
            <a:pPr algn="l" marL="274320" indent="-274320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không cần đợi token expire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13400" y="4882852"/>
            <a:ext cx="3523070" cy="1211263"/>
          </a:xfrm>
          <a:prstGeom prst="roundRect">
            <a:avLst>
              <a:gd name="adj" fmla="val 6144"/>
            </a:avLst>
          </a:prstGeom>
          <a:solidFill>
            <a:srgbClr val="EEDDD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601" y="5141317"/>
            <a:ext cx="221451" cy="1772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89252" y="5076527"/>
            <a:ext cx="2770019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Đây là cơ chế bảo mật quan trọng khi phát hiện tài khoản bị xâm nhập hoặc nhân viên nghỉ việc.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74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Kết luận &amp; Bài học Kinh nghiệm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108571"/>
            <a:ext cx="108687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Độ bao phủ mã nguồn (JaCoCo)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1475" y="1535609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Target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≥ 80%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cho core services: Account, Transaction, Saga Orchestrator.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6338" y="2896691"/>
            <a:ext cx="1888879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82%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326" y="1905099"/>
            <a:ext cx="2367102" cy="2367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403527"/>
            <a:ext cx="351890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Account Service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51209" y="2896691"/>
            <a:ext cx="1888879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78%</a:t>
            </a:r>
            <a:endParaRPr lang="en-US" sz="3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197" y="1905099"/>
            <a:ext cx="2367102" cy="2367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6346" y="4403527"/>
            <a:ext cx="351890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Transaction Service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826081" y="2896691"/>
            <a:ext cx="1888879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91%</a:t>
            </a:r>
            <a:endParaRPr lang="en-US" sz="3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069" y="1905099"/>
            <a:ext cx="2367102" cy="2367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11218" y="4403527"/>
            <a:ext cx="351890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Saga Logic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61475" y="4830564"/>
            <a:ext cx="108687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Bài học kinh nghiệm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1475" y="5257602"/>
            <a:ext cx="10868745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Saga phức tạp hơn dự kiến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thiết kế compensating action ngay từ đầu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Kafka schema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cần versioning để tránh breaking change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Circuit breaker threshold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cần tuning theo thực tế load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Redis Blacklist</a:t>
            </a:r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cần TTL đồng bộ với JWT expiry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2026-09-25T04:07:00Z</dcterms:created>
  <dcterms:modified xsi:type="dcterms:W3CDTF">2026-09-25T04:07:00Z</dcterms:modified>
</cp:coreProperties>
</file>